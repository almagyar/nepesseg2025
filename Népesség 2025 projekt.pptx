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8C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7" d="100"/>
          <a:sy n="77" d="100"/>
        </p:scale>
        <p:origin x="684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B53350-FB04-4B5F-B5A5-3AE388242D97}" type="datetimeFigureOut">
              <a:rPr lang="hu-HU" smtClean="0"/>
              <a:t>2026. 09. 20.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3A13E1-B6A4-4049-BC88-101E0D27F8C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640794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66D9C06-435B-4338-B1B2-C5807C059B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 dirty="0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7AB84BD8-B532-41A3-86E6-C11D664007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Georgia" panose="02040502050405020303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 dirty="0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9C03DE9-20F8-4FE3-8F88-7E3A0A4F19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56041-F78F-46FB-9DD9-5EEFE30E9918}" type="datetime1">
              <a:rPr lang="hu-HU" smtClean="0"/>
              <a:t>2026. 09. 20.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F2D08D5D-9FD1-4385-91BB-864BB8C4D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5AC2D689-D946-4191-BAC4-812FF86290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280934"/>
            <a:ext cx="2743200" cy="365125"/>
          </a:xfrm>
        </p:spPr>
        <p:txBody>
          <a:bodyPr/>
          <a:lstStyle>
            <a:lvl1pPr>
              <a:defRPr sz="2800"/>
            </a:lvl1pPr>
          </a:lstStyle>
          <a:p>
            <a:fld id="{1FABDF30-A028-4ADD-87D6-07D5E0A35220}" type="slidenum">
              <a:rPr lang="hu-HU" smtClean="0"/>
              <a:pPr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8737973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9657F59-E348-4BFB-A520-9A594E454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3338213-CBEB-49EF-BAC2-CFB51FE49F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364E0702-0DD8-4C89-9E28-4E3023B09B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682343-3180-46FB-B3C4-E2A140C8BC6B}" type="datetime1">
              <a:rPr lang="hu-HU" smtClean="0"/>
              <a:t>2026. 09. 20.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02BB770-90FB-470F-AEF2-A45C80760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9EE0EC8-A091-4E54-A1E7-DC22E70AFD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23699" y="6310312"/>
            <a:ext cx="2743200" cy="365125"/>
          </a:xfrm>
        </p:spPr>
        <p:txBody>
          <a:bodyPr/>
          <a:lstStyle>
            <a:lvl1pPr>
              <a:defRPr sz="2800"/>
            </a:lvl1pPr>
          </a:lstStyle>
          <a:p>
            <a:fld id="{1FABDF30-A028-4ADD-87D6-07D5E0A35220}" type="slidenum">
              <a:rPr lang="hu-HU" smtClean="0"/>
              <a:pPr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5151288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787F5CB-D6ED-4DCB-A10A-FD76EBF70F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F10DEED5-3602-42EF-BA6A-0D03EB8DD0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 dirty="0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1180976E-33A5-4B47-BC80-61789909EE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49D67-91FC-47B5-88DE-434B7642A4E4}" type="datetime1">
              <a:rPr lang="hu-HU" smtClean="0"/>
              <a:t>2026. 09. 20.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ECDFCDE-FEAF-4AF1-9586-446CCC898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C544BD04-0DE9-482E-9022-4F090B532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7495" y="6307909"/>
            <a:ext cx="2743200" cy="365125"/>
          </a:xfrm>
        </p:spPr>
        <p:txBody>
          <a:bodyPr/>
          <a:lstStyle>
            <a:lvl1pPr>
              <a:defRPr sz="2800"/>
            </a:lvl1pPr>
          </a:lstStyle>
          <a:p>
            <a:fld id="{1FABDF30-A028-4ADD-87D6-07D5E0A35220}" type="slidenum">
              <a:rPr lang="hu-HU" smtClean="0"/>
              <a:pPr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7585358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8750B09-4FE1-48D6-8A67-F3F6E04CCE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F843760-36EC-4D75-A642-F80C00F7AA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45C2A1D2-FB4D-48E1-9C42-E8D8AC5071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327B14F1-E0DE-4DC3-B4A4-A5484C54D1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C48760-715D-48F2-BD53-7504C96B2800}" type="datetime1">
              <a:rPr lang="hu-HU" smtClean="0"/>
              <a:t>2026. 09. 20.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06C36A41-0B39-4DDE-9482-28E754C30C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A6BBEBAA-8A09-4826-936E-D6B5BA9BB4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57220" y="6310312"/>
            <a:ext cx="2743200" cy="365125"/>
          </a:xfrm>
        </p:spPr>
        <p:txBody>
          <a:bodyPr/>
          <a:lstStyle>
            <a:lvl1pPr>
              <a:defRPr sz="2800"/>
            </a:lvl1pPr>
          </a:lstStyle>
          <a:p>
            <a:fld id="{1FABDF30-A028-4ADD-87D6-07D5E0A35220}" type="slidenum">
              <a:rPr lang="hu-HU" smtClean="0"/>
              <a:pPr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565738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5D67E80-8522-4A43-81E9-314FD43394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181F62C6-25C3-44EB-916D-BE462E8850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70B23B17-582C-4C3B-8F3A-090A1A5DEC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64780937-58CA-45B2-B3F6-793B34C086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647E3768-41C3-4A58-A653-5CFE86D08CC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782DF5E1-649B-481F-AA54-E311A54325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00637" y="6356350"/>
            <a:ext cx="2743200" cy="365125"/>
          </a:xfrm>
        </p:spPr>
        <p:txBody>
          <a:bodyPr/>
          <a:lstStyle/>
          <a:p>
            <a:fld id="{22A7F8D9-AF72-4E6A-9A90-15EB298345A2}" type="datetime1">
              <a:rPr lang="hu-HU" smtClean="0"/>
              <a:t>2026. 09. 20.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5DF12D7A-4356-493D-9943-05A83155B0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B4393EF1-2EE0-4FA1-9A67-62B88AE65C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8163" y="6310312"/>
            <a:ext cx="2743200" cy="365125"/>
          </a:xfrm>
        </p:spPr>
        <p:txBody>
          <a:bodyPr/>
          <a:lstStyle>
            <a:lvl1pPr>
              <a:defRPr sz="2800"/>
            </a:lvl1pPr>
          </a:lstStyle>
          <a:p>
            <a:fld id="{1FABDF30-A028-4ADD-87D6-07D5E0A35220}" type="slidenum">
              <a:rPr lang="hu-HU" smtClean="0"/>
              <a:pPr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41555528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D312E9D-B31A-4FFE-8475-568B43AAEF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D77FCCFB-BB1F-4C26-B4C1-47922FFA64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1E4E6-2A82-4E5D-BD47-87D6F8C650FB}" type="datetime1">
              <a:rPr lang="hu-HU" smtClean="0"/>
              <a:t>2026. 09. 20.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89C62C1B-C729-4C49-A403-59C7AE3E2C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B39BCC86-444A-4497-B2EA-CE53E87F1F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ABDF30-A028-4ADD-87D6-07D5E0A3522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05221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613730DD-C864-4F7F-9971-AE355BC85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FE8E8-BF58-4CDA-AF5C-5BEAA77F4788}" type="datetime1">
              <a:rPr lang="hu-HU" smtClean="0"/>
              <a:t>2026. 09. 20.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50BF4950-E1BE-48D5-82E1-2AA07EA19A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71318378-D8FD-4F33-B9BD-327AEFDD35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ABDF30-A028-4ADD-87D6-07D5E0A3522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09336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7B4284C-93AE-46C4-BBBF-8C50142CDA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545FB3C-7F4D-4811-9584-A96EAC49D0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FC221710-EF0F-4C3D-B4A4-166B3BE2BA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2BFAF03C-C834-4E79-8899-5150F8B424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EDC4CA-614F-4B8D-BF7C-29228988EFC5}" type="datetime1">
              <a:rPr lang="hu-HU" smtClean="0"/>
              <a:t>2026. 09. 20.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68122690-A222-4C68-B595-F65ACE9D88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89E4FFE5-21D1-4A9C-972C-CFE589E96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ABDF30-A028-4ADD-87D6-07D5E0A3522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652290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41AC33B-7CA5-4976-ACE9-D85C90D76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C5EAB523-A77B-46E4-9CC1-D27CA837BAB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74541F66-04C1-4147-BDE3-1DA7B6F871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B80258DF-9835-4896-8F41-2F23F05C32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86B231-57CE-4A89-85CD-A03E237611E0}" type="datetime1">
              <a:rPr lang="hu-HU" smtClean="0"/>
              <a:t>2026. 09. 20.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02945F74-4F3C-4C43-862F-7E6F3B88A5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04E89AF9-8424-4463-8B9F-571B51067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ABDF30-A028-4ADD-87D6-07D5E0A3522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755714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A77F881-7670-4E4C-95A5-972C04698B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5422063A-099E-4CCE-81D6-E11811BDC5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85925B7E-2477-44A1-822C-0A44054118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B45633-A540-4BA4-9503-37AACDF1BF7B}" type="datetime1">
              <a:rPr lang="hu-HU" smtClean="0"/>
              <a:t>2026. 09. 20.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3ADBD3BB-3FE2-491B-9BAF-F00A3B9733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AC57A282-333F-47CE-A239-1582AD8B98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ABDF30-A028-4ADD-87D6-07D5E0A3522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147207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AE422840-7CE8-403A-B3A3-9EC6823CFB1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9CF73E5D-B5D3-4115-A911-D9FF727E8A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285B24F-F71C-4D1D-B708-CF79CC0011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03415-C3F8-41AA-8696-66C196C56785}" type="datetime1">
              <a:rPr lang="hu-HU" smtClean="0"/>
              <a:t>2026. 09. 20.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F135BBF2-25B0-4DE8-B57B-53F071E0A3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32C31A50-C189-44D3-A543-8A4967CA35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ABDF30-A028-4ADD-87D6-07D5E0A3522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403572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3492">
              <a:srgbClr val="00B0F0"/>
            </a:gs>
            <a:gs pos="83800">
              <a:srgbClr val="7030A0"/>
            </a:gs>
            <a:gs pos="0">
              <a:srgbClr val="00B0F0"/>
            </a:gs>
            <a:gs pos="100000">
              <a:srgbClr val="7030A0">
                <a:lumMod val="100000"/>
              </a:srgbClr>
            </a:gs>
          </a:gsLst>
          <a:lin ang="27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70B9ECD7-A920-4D8F-8528-7BB318E40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 dirty="0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75A9C8EA-27B1-478A-BA29-E196DC31C2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8F1EBB87-14AB-48EF-A65D-919E3593222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25458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1"/>
                </a:solidFill>
              </a:defRPr>
            </a:lvl1pPr>
          </a:lstStyle>
          <a:p>
            <a:fld id="{79FE6BD6-CDEC-46C5-9AC8-9B5089C429BC}" type="datetime1">
              <a:rPr lang="hu-HU" smtClean="0"/>
              <a:t>2026. 09. 20.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AFC910D-CFDC-43B1-9A5B-7080CBBEC2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D68D036E-B9CD-4D5D-A6C5-1EA73D83C5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23342" y="624039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rgbClr val="7030A0"/>
                </a:solidFill>
              </a:defRPr>
            </a:lvl1pPr>
          </a:lstStyle>
          <a:p>
            <a:fld id="{1FABDF30-A028-4ADD-87D6-07D5E0A35220}" type="slidenum">
              <a:rPr lang="hu-HU" smtClean="0"/>
              <a:pPr/>
              <a:t>‹#›</a:t>
            </a:fld>
            <a:endParaRPr lang="hu-HU" dirty="0"/>
          </a:p>
        </p:txBody>
      </p:sp>
      <p:sp>
        <p:nvSpPr>
          <p:cNvPr id="7" name="Ellipszis 6">
            <a:extLst>
              <a:ext uri="{FF2B5EF4-FFF2-40B4-BE49-F238E27FC236}">
                <a16:creationId xmlns:a16="http://schemas.microsoft.com/office/drawing/2014/main" id="{7E820B3B-97A5-4008-9AB5-E2B0F490EBA9}"/>
              </a:ext>
            </a:extLst>
          </p:cNvPr>
          <p:cNvSpPr/>
          <p:nvPr userDrawn="1"/>
        </p:nvSpPr>
        <p:spPr>
          <a:xfrm>
            <a:off x="10916239" y="5643677"/>
            <a:ext cx="1558565" cy="1558565"/>
          </a:xfrm>
          <a:prstGeom prst="ellipse">
            <a:avLst/>
          </a:prstGeom>
          <a:gradFill flip="none" rotWithShape="1">
            <a:gsLst>
              <a:gs pos="0">
                <a:schemeClr val="bg1">
                  <a:alpha val="23000"/>
                </a:schemeClr>
              </a:gs>
              <a:gs pos="100000">
                <a:schemeClr val="bg1"/>
              </a:gs>
            </a:gsLst>
            <a:path path="circle">
              <a:fillToRect l="50000" t="50000" r="50000" b="50000"/>
            </a:path>
            <a:tileRect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9" name="Ellipszis 8">
            <a:extLst>
              <a:ext uri="{FF2B5EF4-FFF2-40B4-BE49-F238E27FC236}">
                <a16:creationId xmlns:a16="http://schemas.microsoft.com/office/drawing/2014/main" id="{17DD7A21-EDEF-4CA5-8017-4370A815A1DE}"/>
              </a:ext>
            </a:extLst>
          </p:cNvPr>
          <p:cNvSpPr/>
          <p:nvPr userDrawn="1"/>
        </p:nvSpPr>
        <p:spPr>
          <a:xfrm>
            <a:off x="11560467" y="4857517"/>
            <a:ext cx="574907" cy="574907"/>
          </a:xfrm>
          <a:prstGeom prst="ellipse">
            <a:avLst/>
          </a:prstGeom>
          <a:gradFill flip="none" rotWithShape="1">
            <a:gsLst>
              <a:gs pos="0">
                <a:schemeClr val="bg1">
                  <a:alpha val="23000"/>
                </a:schemeClr>
              </a:gs>
              <a:gs pos="100000">
                <a:schemeClr val="bg1"/>
              </a:gs>
            </a:gsLst>
            <a:path path="circle">
              <a:fillToRect l="50000" t="50000" r="50000" b="50000"/>
            </a:path>
            <a:tileRect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0" name="Ellipszis 9">
            <a:extLst>
              <a:ext uri="{FF2B5EF4-FFF2-40B4-BE49-F238E27FC236}">
                <a16:creationId xmlns:a16="http://schemas.microsoft.com/office/drawing/2014/main" id="{0D689A2C-7DFA-401C-B793-9AA4B1909064}"/>
              </a:ext>
            </a:extLst>
          </p:cNvPr>
          <p:cNvSpPr/>
          <p:nvPr userDrawn="1"/>
        </p:nvSpPr>
        <p:spPr>
          <a:xfrm>
            <a:off x="10112732" y="6146568"/>
            <a:ext cx="574907" cy="574907"/>
          </a:xfrm>
          <a:prstGeom prst="ellipse">
            <a:avLst/>
          </a:prstGeom>
          <a:gradFill flip="none" rotWithShape="1">
            <a:gsLst>
              <a:gs pos="0">
                <a:schemeClr val="bg1">
                  <a:alpha val="23000"/>
                </a:schemeClr>
              </a:gs>
              <a:gs pos="100000">
                <a:schemeClr val="bg1"/>
              </a:gs>
            </a:gsLst>
            <a:path path="circle">
              <a:fillToRect l="50000" t="50000" r="50000" b="50000"/>
            </a:path>
            <a:tileRect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729408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Relationship Id="rId4" Type="http://schemas.openxmlformats.org/officeDocument/2006/relationships/slide" Target="slide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84000">
              <a:srgbClr val="7030A0"/>
            </a:gs>
            <a:gs pos="13000">
              <a:srgbClr val="00B0F0"/>
            </a:gs>
            <a:gs pos="0">
              <a:srgbClr val="00B0F0"/>
            </a:gs>
            <a:gs pos="100000">
              <a:srgbClr val="7030A0">
                <a:lumMod val="100000"/>
              </a:srgbClr>
            </a:gs>
          </a:gsLst>
          <a:lin ang="27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65E6F37-7204-41EB-9418-84F8AB2DFD6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Népesség 2025 projekt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CB09BDB1-FFF5-49EE-9048-17AC508F8ED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/>
              <a:t>Készítette: </a:t>
            </a:r>
            <a:r>
              <a:rPr lang="hu-HU" dirty="0" err="1"/>
              <a:t>Gargya</a:t>
            </a:r>
            <a:r>
              <a:rPr lang="hu-HU" dirty="0"/>
              <a:t> </a:t>
            </a:r>
            <a:r>
              <a:rPr lang="hu-HU" dirty="0"/>
              <a:t>D</a:t>
            </a:r>
            <a:r>
              <a:rPr lang="hu-HU" dirty="0" smtClean="0"/>
              <a:t>ániel </a:t>
            </a:r>
            <a:r>
              <a:rPr lang="hu-HU" dirty="0"/>
              <a:t>&amp; Kóti-Jószai Simon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D824280B-1902-4D64-BC18-9AB11F9C99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5D9513-2AA5-4D4C-B8F9-64DB2729C6EC}" type="datetime1">
              <a:rPr lang="hu-HU" smtClean="0"/>
              <a:t>2026. 09. 20.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C6AFD9EE-E0B5-4CB6-802A-2E638D854F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ABDF30-A028-4ADD-87D6-07D5E0A35220}" type="slidenum">
              <a:rPr lang="hu-HU" smtClean="0"/>
              <a:pPr/>
              <a:t>1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3348502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1A4D758-E77A-4AFB-9F15-00DBD4572F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0"/>
            <a:ext cx="9906000" cy="1477961"/>
          </a:xfrm>
        </p:spPr>
        <p:txBody>
          <a:bodyPr/>
          <a:lstStyle/>
          <a:p>
            <a:pPr algn="ctr"/>
            <a:r>
              <a:rPr lang="hu-HU" dirty="0"/>
              <a:t>Főmenü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D82F7BA5-584E-418E-941F-F5F145490D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56173" y="2164807"/>
            <a:ext cx="4649783" cy="823912"/>
          </a:xfrm>
        </p:spPr>
        <p:txBody>
          <a:bodyPr/>
          <a:lstStyle/>
          <a:p>
            <a:r>
              <a:rPr lang="hu-HU" dirty="0"/>
              <a:t>Válasszon az alábbi opciókból:</a:t>
            </a:r>
          </a:p>
        </p:txBody>
      </p:sp>
      <p:pic>
        <p:nvPicPr>
          <p:cNvPr id="10" name="Tartalom helye 9">
            <a:extLst>
              <a:ext uri="{FF2B5EF4-FFF2-40B4-BE49-F238E27FC236}">
                <a16:creationId xmlns:a16="http://schemas.microsoft.com/office/drawing/2014/main" id="{DB65145B-0104-42CF-90D0-456CD0C3F68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076" y="1053286"/>
            <a:ext cx="10191848" cy="974483"/>
          </a:xfrm>
          <a:prstGeom prst="flowChartAlternateProcess">
            <a:avLst/>
          </a:prstGeom>
        </p:spPr>
      </p:pic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67F8E321-0DF5-4186-AC4A-A4B91FB8F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ABDF30-A028-4ADD-87D6-07D5E0A35220}" type="slidenum">
              <a:rPr lang="hu-HU" smtClean="0"/>
              <a:t>2</a:t>
            </a:fld>
            <a:endParaRPr lang="hu-HU"/>
          </a:p>
        </p:txBody>
      </p:sp>
      <p:sp>
        <p:nvSpPr>
          <p:cNvPr id="8" name="Dátum helye 7">
            <a:extLst>
              <a:ext uri="{FF2B5EF4-FFF2-40B4-BE49-F238E27FC236}">
                <a16:creationId xmlns:a16="http://schemas.microsoft.com/office/drawing/2014/main" id="{EDE4FC4E-51AC-4E57-B5F2-AA4F1A31C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08E92F-3248-458B-8907-199E10093CFD}" type="datetime1">
              <a:rPr lang="hu-HU" smtClean="0"/>
              <a:t>2026. 09. 20.</a:t>
            </a:fld>
            <a:endParaRPr lang="hu-HU"/>
          </a:p>
        </p:txBody>
      </p: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1ED06D21-BF9A-4FAE-A26C-24D47759FA66}"/>
              </a:ext>
            </a:extLst>
          </p:cNvPr>
          <p:cNvSpPr txBox="1"/>
          <p:nvPr/>
        </p:nvSpPr>
        <p:spPr>
          <a:xfrm>
            <a:off x="2435107" y="1985960"/>
            <a:ext cx="73217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i="1" dirty="0">
                <a:solidFill>
                  <a:schemeClr val="bg1"/>
                </a:solidFill>
              </a:rPr>
              <a:t>A főmenü kinézete a terminálban</a:t>
            </a:r>
          </a:p>
        </p:txBody>
      </p:sp>
      <p:sp>
        <p:nvSpPr>
          <p:cNvPr id="13" name="Téglalap: lekerekített 12">
            <a:hlinkClick r:id="rId3" action="ppaction://hlinksldjump"/>
            <a:extLst>
              <a:ext uri="{FF2B5EF4-FFF2-40B4-BE49-F238E27FC236}">
                <a16:creationId xmlns:a16="http://schemas.microsoft.com/office/drawing/2014/main" id="{F96EBE34-5E95-44CA-9326-2A7FF7E9AFAC}"/>
              </a:ext>
            </a:extLst>
          </p:cNvPr>
          <p:cNvSpPr/>
          <p:nvPr/>
        </p:nvSpPr>
        <p:spPr>
          <a:xfrm>
            <a:off x="1854144" y="3449342"/>
            <a:ext cx="2975591" cy="606091"/>
          </a:xfrm>
          <a:prstGeom prst="roundRect">
            <a:avLst/>
          </a:prstGeom>
          <a:solidFill>
            <a:srgbClr val="28C2FF"/>
          </a:solidFill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5" name="Szövegdoboz 14">
            <a:hlinkClick r:id="rId3" action="ppaction://hlinksldjump"/>
            <a:extLst>
              <a:ext uri="{FF2B5EF4-FFF2-40B4-BE49-F238E27FC236}">
                <a16:creationId xmlns:a16="http://schemas.microsoft.com/office/drawing/2014/main" id="{4EA83EA2-23BA-4E5C-901C-32E9173E3F18}"/>
              </a:ext>
            </a:extLst>
          </p:cNvPr>
          <p:cNvSpPr txBox="1"/>
          <p:nvPr/>
        </p:nvSpPr>
        <p:spPr>
          <a:xfrm>
            <a:off x="1854144" y="3544914"/>
            <a:ext cx="2975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Megyekód beírása</a:t>
            </a:r>
          </a:p>
        </p:txBody>
      </p:sp>
      <p:sp>
        <p:nvSpPr>
          <p:cNvPr id="14" name="Téglalap: lekerekített 13">
            <a:hlinkClick r:id="rId4" action="ppaction://hlinksldjump"/>
            <a:extLst>
              <a:ext uri="{FF2B5EF4-FFF2-40B4-BE49-F238E27FC236}">
                <a16:creationId xmlns:a16="http://schemas.microsoft.com/office/drawing/2014/main" id="{3E374164-581D-24B0-29EC-3AE025F13E4C}"/>
              </a:ext>
            </a:extLst>
          </p:cNvPr>
          <p:cNvSpPr/>
          <p:nvPr/>
        </p:nvSpPr>
        <p:spPr>
          <a:xfrm>
            <a:off x="1854144" y="4509097"/>
            <a:ext cx="2975591" cy="606091"/>
          </a:xfrm>
          <a:prstGeom prst="roundRect">
            <a:avLst/>
          </a:prstGeom>
          <a:solidFill>
            <a:srgbClr val="28C2FF"/>
          </a:solidFill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7" name="Szövegdoboz 16">
            <a:hlinkClick r:id="rId4" action="ppaction://hlinksldjump"/>
            <a:extLst>
              <a:ext uri="{FF2B5EF4-FFF2-40B4-BE49-F238E27FC236}">
                <a16:creationId xmlns:a16="http://schemas.microsoft.com/office/drawing/2014/main" id="{A6AEE4FA-BB21-8BF7-4071-B1DAE4055048}"/>
              </a:ext>
            </a:extLst>
          </p:cNvPr>
          <p:cNvSpPr txBox="1"/>
          <p:nvPr/>
        </p:nvSpPr>
        <p:spPr>
          <a:xfrm>
            <a:off x="1854144" y="4604669"/>
            <a:ext cx="2975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Település típusai</a:t>
            </a:r>
          </a:p>
        </p:txBody>
      </p:sp>
      <p:sp>
        <p:nvSpPr>
          <p:cNvPr id="19" name="Tartalom helye 18">
            <a:extLst>
              <a:ext uri="{FF2B5EF4-FFF2-40B4-BE49-F238E27FC236}">
                <a16:creationId xmlns:a16="http://schemas.microsoft.com/office/drawing/2014/main" id="{044C93E6-796F-75C0-7ADD-D742DBCCF136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hu-HU" dirty="0"/>
              <a:t>A főmenü üdvözli a felhasználót majd megkéri hogy válasszon az </a:t>
            </a:r>
            <a:r>
              <a:rPr lang="hu-HU" dirty="0" err="1"/>
              <a:t>opcióknól</a:t>
            </a:r>
            <a:r>
              <a:rPr lang="hu-HU" dirty="0"/>
              <a:t> valamint a programból való kilépés lehetőségét is feldobja. </a:t>
            </a:r>
          </a:p>
          <a:p>
            <a:r>
              <a:rPr lang="hu-HU" dirty="0"/>
              <a:t>Az opció kiválasztása után nem kell ENTER-t ütni köszönhetően az </a:t>
            </a:r>
            <a:r>
              <a:rPr lang="hu-HU" dirty="0" err="1"/>
              <a:t>msvcrt.getch</a:t>
            </a:r>
            <a:r>
              <a:rPr lang="hu-HU" dirty="0"/>
              <a:t>() és .</a:t>
            </a:r>
            <a:r>
              <a:rPr lang="hu-HU" dirty="0" err="1"/>
              <a:t>kbhit</a:t>
            </a:r>
            <a:r>
              <a:rPr lang="hu-HU" dirty="0"/>
              <a:t>() funkciónak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108534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2" presetClass="emph" presetSubtype="0" repeatCount="indefinite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6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7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8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9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0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1" presetID="32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12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3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14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5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6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7" presetID="32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18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9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20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21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22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3" presetID="32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24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25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26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27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28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5" grpId="0"/>
      <p:bldP spid="14" grpId="0" animBg="1"/>
      <p:bldP spid="1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6BE4797-6E61-E016-0CC5-599C6C602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Megyekód beírása</a:t>
            </a:r>
            <a:endParaRPr lang="en-US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DB227FF-D3E3-FB39-D8E6-AE364ADB76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34888" y="1825625"/>
            <a:ext cx="4918911" cy="4351338"/>
          </a:xfrm>
        </p:spPr>
        <p:txBody>
          <a:bodyPr/>
          <a:lstStyle/>
          <a:p>
            <a:r>
              <a:rPr lang="hu-HU" dirty="0"/>
              <a:t>A kód bekér egy megyekódot a felhasználótól majd ennek a megyének az információit írja ki. </a:t>
            </a:r>
          </a:p>
          <a:p>
            <a:r>
              <a:rPr lang="hu-HU" dirty="0"/>
              <a:t>Hibás bemenet esetén a kód minden adatra 0-t ír ki.</a:t>
            </a:r>
          </a:p>
          <a:p>
            <a:r>
              <a:rPr lang="hu-HU" dirty="0"/>
              <a:t>Helyes bemenet esetén a kód a feladatban kért információkat írja ki és a képen látható opciókat</a:t>
            </a:r>
            <a:endParaRPr lang="en-US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662594D9-31D7-9FF3-81E5-FF3F7D6FE1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682343-3180-46FB-B3C4-E2A140C8BC6B}" type="datetime1">
              <a:rPr lang="hu-HU" smtClean="0"/>
              <a:t>2026. 09. 20.</a:t>
            </a:fld>
            <a:endParaRPr lang="hu-HU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50C269EF-1681-A0DF-686E-F80E0FC09B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ABDF30-A028-4ADD-87D6-07D5E0A35220}" type="slidenum">
              <a:rPr lang="hu-HU" smtClean="0"/>
              <a:pPr/>
              <a:t>3</a:t>
            </a:fld>
            <a:endParaRPr lang="hu-HU" dirty="0"/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E92B96BD-4E8C-CE01-CAA6-2DBB707069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926209"/>
            <a:ext cx="4983947" cy="2164842"/>
          </a:xfrm>
          <a:prstGeom prst="foldedCorner">
            <a:avLst/>
          </a:prstGeom>
        </p:spPr>
      </p:pic>
      <p:sp>
        <p:nvSpPr>
          <p:cNvPr id="10" name="Nyíl: balra mutató 9">
            <a:hlinkClick r:id="rId3" action="ppaction://hlinksldjump"/>
            <a:extLst>
              <a:ext uri="{FF2B5EF4-FFF2-40B4-BE49-F238E27FC236}">
                <a16:creationId xmlns:a16="http://schemas.microsoft.com/office/drawing/2014/main" id="{975B1FD0-BAE3-851E-484A-06486DEBAD04}"/>
              </a:ext>
            </a:extLst>
          </p:cNvPr>
          <p:cNvSpPr/>
          <p:nvPr/>
        </p:nvSpPr>
        <p:spPr>
          <a:xfrm>
            <a:off x="8110728" y="6068314"/>
            <a:ext cx="1911096" cy="576072"/>
          </a:xfrm>
          <a:prstGeom prst="leftArrow">
            <a:avLst/>
          </a:prstGeom>
          <a:solidFill>
            <a:srgbClr val="28C2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Szövegdoboz 10">
            <a:hlinkClick r:id="rId3" action="ppaction://hlinksldjump"/>
            <a:extLst>
              <a:ext uri="{FF2B5EF4-FFF2-40B4-BE49-F238E27FC236}">
                <a16:creationId xmlns:a16="http://schemas.microsoft.com/office/drawing/2014/main" id="{4D10CA94-7AAC-A545-698D-93CDDA50E3F7}"/>
              </a:ext>
            </a:extLst>
          </p:cNvPr>
          <p:cNvSpPr txBox="1"/>
          <p:nvPr/>
        </p:nvSpPr>
        <p:spPr>
          <a:xfrm>
            <a:off x="8183880" y="6176963"/>
            <a:ext cx="19751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</a:rPr>
              <a:t>Vissza a főmenübe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3" name="Szövegdoboz 12">
            <a:extLst>
              <a:ext uri="{FF2B5EF4-FFF2-40B4-BE49-F238E27FC236}">
                <a16:creationId xmlns:a16="http://schemas.microsoft.com/office/drawing/2014/main" id="{CF7F129D-970F-89E6-8622-62E1850DEBE1}"/>
              </a:ext>
            </a:extLst>
          </p:cNvPr>
          <p:cNvSpPr txBox="1"/>
          <p:nvPr/>
        </p:nvSpPr>
        <p:spPr>
          <a:xfrm>
            <a:off x="838200" y="4091051"/>
            <a:ext cx="49839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i="1" dirty="0">
                <a:solidFill>
                  <a:schemeClr val="bg1"/>
                </a:solidFill>
              </a:rPr>
              <a:t>A kód helyes bemenet esetén</a:t>
            </a:r>
            <a:endParaRPr lang="en-US" i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1529024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EB264A9-2BF2-9949-FDFF-0282F98973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Település típusai</a:t>
            </a:r>
            <a:endParaRPr lang="en-US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3CE30C4-169B-79AD-7D17-1E57D79033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66944" y="1825625"/>
            <a:ext cx="6086856" cy="4351338"/>
          </a:xfrm>
        </p:spPr>
        <p:txBody>
          <a:bodyPr/>
          <a:lstStyle/>
          <a:p>
            <a:r>
              <a:rPr lang="hu-HU" dirty="0"/>
              <a:t>A kód bekéri hogy a Magyarországon található települések közül milyen típusra kíváncsi.</a:t>
            </a:r>
          </a:p>
          <a:p>
            <a:r>
              <a:rPr lang="hu-HU" dirty="0"/>
              <a:t>Község esetén a kód kiírja az országban található községeket és nagyközségeket</a:t>
            </a:r>
          </a:p>
          <a:p>
            <a:r>
              <a:rPr lang="hu-HU" dirty="0"/>
              <a:t>Város esetén a kód kiírja az országban található városokat, vármegyeszékhelyeket, a vármegyei jogú városokat és a fővárosi kerületeket is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8CA33A81-A81E-C5DC-4170-508A3E5BEF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682343-3180-46FB-B3C4-E2A140C8BC6B}" type="datetime1">
              <a:rPr lang="hu-HU" smtClean="0"/>
              <a:t>2026. 09. 20.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65088E00-81DB-CAEF-7ECD-23AFA31DE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ABDF30-A028-4ADD-87D6-07D5E0A35220}" type="slidenum">
              <a:rPr lang="hu-HU" smtClean="0"/>
              <a:pPr/>
              <a:t>4</a:t>
            </a:fld>
            <a:endParaRPr lang="hu-HU" dirty="0"/>
          </a:p>
        </p:txBody>
      </p:sp>
      <p:sp>
        <p:nvSpPr>
          <p:cNvPr id="6" name="Nyíl: balra mutató 5">
            <a:hlinkClick r:id="rId2" action="ppaction://hlinksldjump"/>
            <a:extLst>
              <a:ext uri="{FF2B5EF4-FFF2-40B4-BE49-F238E27FC236}">
                <a16:creationId xmlns:a16="http://schemas.microsoft.com/office/drawing/2014/main" id="{2A43009F-B24E-768F-C6D7-3951DFD90621}"/>
              </a:ext>
            </a:extLst>
          </p:cNvPr>
          <p:cNvSpPr/>
          <p:nvPr/>
        </p:nvSpPr>
        <p:spPr>
          <a:xfrm>
            <a:off x="7897368" y="6099365"/>
            <a:ext cx="1911096" cy="576072"/>
          </a:xfrm>
          <a:prstGeom prst="leftArrow">
            <a:avLst/>
          </a:prstGeom>
          <a:solidFill>
            <a:srgbClr val="28C2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Szövegdoboz 6">
            <a:hlinkClick r:id="rId2" action="ppaction://hlinksldjump"/>
            <a:extLst>
              <a:ext uri="{FF2B5EF4-FFF2-40B4-BE49-F238E27FC236}">
                <a16:creationId xmlns:a16="http://schemas.microsoft.com/office/drawing/2014/main" id="{9B9A7AAE-5EBB-B621-4B95-4A3895843093}"/>
              </a:ext>
            </a:extLst>
          </p:cNvPr>
          <p:cNvSpPr txBox="1"/>
          <p:nvPr/>
        </p:nvSpPr>
        <p:spPr>
          <a:xfrm>
            <a:off x="7970520" y="6208014"/>
            <a:ext cx="19751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</a:rPr>
              <a:t>Vissza a főmenübe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4107987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2. egyéni séma">
      <a:majorFont>
        <a:latin typeface="Georgia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77</TotalTime>
  <Words>173</Words>
  <Application>Microsoft Office PowerPoint</Application>
  <PresentationFormat>Szélesvásznú</PresentationFormat>
  <Paragraphs>28</Paragraphs>
  <Slides>4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4</vt:i4>
      </vt:variant>
    </vt:vector>
  </HeadingPairs>
  <TitlesOfParts>
    <vt:vector size="8" baseType="lpstr">
      <vt:lpstr>Arial</vt:lpstr>
      <vt:lpstr>Calibri</vt:lpstr>
      <vt:lpstr>Georgia</vt:lpstr>
      <vt:lpstr>Office-téma</vt:lpstr>
      <vt:lpstr>Népesség 2025 projekt</vt:lpstr>
      <vt:lpstr>Főmenü</vt:lpstr>
      <vt:lpstr>Megyekód beírása</vt:lpstr>
      <vt:lpstr>Település típusai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Népesség 2025 projekt</dc:title>
  <dc:creator>Kóti-Jószai Simon</dc:creator>
  <cp:lastModifiedBy>KomPhone</cp:lastModifiedBy>
  <cp:revision>13</cp:revision>
  <dcterms:created xsi:type="dcterms:W3CDTF">2026-09-18T10:38:32Z</dcterms:created>
  <dcterms:modified xsi:type="dcterms:W3CDTF">2026-09-20T10:57:40Z</dcterms:modified>
</cp:coreProperties>
</file>